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331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D3060">
              <a:alpha val="60000"/>
            </a:srgbClr>
          </a:solidFill>
          <a:ln w="12700">
            <a:solidFill>
              <a:srgbClr val="0D3060">
                <a:alpha val="6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2743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Generative AI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11680" y="1097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Beginner's Guide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4871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33472" y="246888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24871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09744" y="246888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9744" y="24871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86016" y="2468880"/>
            <a:ext cx="1965960" cy="457200"/>
          </a:xfrm>
          <a:prstGeom prst="roundRect">
            <a:avLst>
              <a:gd name="adj" fmla="val 24000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86016" y="248716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 into Python &amp; AI starts here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466344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17320" y="4663440"/>
            <a:ext cx="109728" cy="109728"/>
          </a:xfrm>
          <a:prstGeom prst="ellipse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468880" y="4663440"/>
            <a:ext cx="109728" cy="109728"/>
          </a:xfrm>
          <a:prstGeom prst="ellipse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20440" y="4663440"/>
            <a:ext cx="109728" cy="109728"/>
          </a:xfrm>
          <a:prstGeom prst="ellipse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4663440"/>
            <a:ext cx="109728" cy="109728"/>
          </a:xfrm>
          <a:prstGeom prst="ellipse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23560" y="4663440"/>
            <a:ext cx="109728" cy="109728"/>
          </a:xfrm>
          <a:prstGeom prst="ellipse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675120" y="4663440"/>
            <a:ext cx="109728" cy="109728"/>
          </a:xfrm>
          <a:prstGeom prst="ellipse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26680" y="4663440"/>
            <a:ext cx="109728" cy="109728"/>
          </a:xfrm>
          <a:prstGeom prst="ellipse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9659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234440"/>
            <a:ext cx="685800" cy="68580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20574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65176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Python, understand environments, write your first 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00584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005840"/>
            <a:ext cx="19659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234440"/>
            <a:ext cx="685800" cy="68580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60320" y="20574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Basics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560320" y="265176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lists, dicts, NumPy &amp; Pandas fundamentals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100584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00584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66944" y="1234440"/>
            <a:ext cx="685800" cy="68580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66944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36592" y="20574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36592" y="265176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datasets, spot patterns, create insightful charts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03136" y="1005840"/>
            <a:ext cx="1965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005840"/>
            <a:ext cx="196596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43216" y="1234440"/>
            <a:ext cx="685800" cy="685800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43216" y="1234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12864" y="205740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912864" y="265176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models with scikit-learn step by step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B4D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Python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environments, and writing your first lines of code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Python for AI &amp; GenAI?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Getting Started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420624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readable syntax that reads almost like English. Perfect for learners.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00584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05840"/>
            <a:ext cx="420624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Ecosystem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Pandas, TensorFlow, PyTorch, scikit-learn, Hugging Face — all Python.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42062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98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2461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 Google, OpenAI, Meta, and virtually every AI lab on the planet.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788920"/>
            <a:ext cx="4206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788920"/>
            <a:ext cx="420624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986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Ready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2461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Claude, GPT, Gemini APIs; build RAG pipelines, agents, and chatbots.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powers 90%+ of AI and machine learning development worldwide.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Your First Script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Getting Started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023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0233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24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Download Python 3.11+ from python.org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Install VS Code (or Jupyter Notebook)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Open terminal → type: python --version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Install packages: pip install numpy pandas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29768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105156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9472" y="105156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02352" y="105156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23444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very first Python script!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Python world!")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"GenAI Explorer"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2025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 = True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 formatting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print(f"Hi {name}! Year: {year}")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calculation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42 * 2 + 8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print(f"Answer: {result}")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402336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Tip: Use Jupyter Notebooks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65760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lets you write and run code in cells, see outputs immediately, and mix notes with code — perfect for learning AI!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B4D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Data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types, structures, NumPy &amp; Pandas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Python Data Types &amp; Structures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Data Basics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1206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005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3624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/ float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00200" y="136245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28 | price = 9.99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29000" y="1362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&amp; calculations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792224"/>
            <a:ext cx="5120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8379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600200" y="183794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9000" y="18379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labels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267712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3134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00200" y="2313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= True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2313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&amp; flags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51206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00200" y="2788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[95, 87, 72]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2900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218688"/>
            <a:ext cx="51206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2644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00200" y="3264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{"name": "AI", "v": 3}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29000" y="32644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data (JSON-like)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960120"/>
            <a:ext cx="3383280" cy="3840480"/>
          </a:xfrm>
          <a:prstGeom prst="roundRect">
            <a:avLst>
              <a:gd name="adj" fmla="val 2703"/>
            </a:avLst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42432" y="105156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25312" y="105156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08192" y="105156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1234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Lists — ordered &amp; mutable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 = ['apple', 'banana', 'mango']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fruits.append('kiwi')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print(fruits[0])   # apple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Dicts — key:value pairs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"claude",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3,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"active": True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print(model["name"])  # claude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Loop through a list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fruit in fruits: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print(f"I like {fruit}")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&amp; Pandas — The Data Powerhouses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Data Basics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515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Numerical Computing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3977640" cy="3291840"/>
          </a:xfrm>
          <a:prstGeom prst="roundRect">
            <a:avLst>
              <a:gd name="adj" fmla="val 2778"/>
            </a:avLst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55448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55448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155448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37360"/>
            <a:ext cx="3703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arrays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3, 4, 5])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np.zeros((3, 3))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Math operations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print(a.mean())   # 3.0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 * 2)      # [2 4 6 8 10]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print(a.reshape(5,1))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429768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51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— Tabular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09160" y="1463040"/>
            <a:ext cx="4160520" cy="3291840"/>
          </a:xfrm>
          <a:prstGeom prst="roundRect">
            <a:avLst>
              <a:gd name="adj" fmla="val 2778"/>
            </a:avLst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73752" y="155448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155448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9512" y="155448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737360"/>
            <a:ext cx="3886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a CSV 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pd.read_csv('data.csv')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explore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 # first 5 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 # (rows, columns)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  # statistics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young = df[df['age'] &lt; 30]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df['salary'].mean()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B4D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data, find patterns, and tell stories with charts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EDA &amp; Visualization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68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the process of investigating a dataset to summarise its characteristics, discover patterns, spot anomalies, and test assumptions — before building any model.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74520"/>
            <a:ext cx="1600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31546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df.head(), df.info(),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df.shape, df.dtypes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11680" y="1874520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874520"/>
            <a:ext cx="1600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8880" y="2011680"/>
            <a:ext cx="640080" cy="640080"/>
          </a:xfrm>
          <a:prstGeom prst="ellipse">
            <a:avLst/>
          </a:prstGeom>
          <a:solidFill>
            <a:srgbClr val="F59E0B">
              <a:alpha val="8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84832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84832" y="31546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 / fillna()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1874520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874520"/>
            <a:ext cx="1600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2011680"/>
            <a:ext cx="640080" cy="640080"/>
          </a:xfrm>
          <a:prstGeom prst="ellipse">
            <a:avLst/>
          </a:prstGeom>
          <a:solidFill>
            <a:srgbClr val="10B981">
              <a:alpha val="8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22192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22192" y="31546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histograms, boxplots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0" y="1874520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1874520"/>
            <a:ext cx="1600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011680"/>
            <a:ext cx="640080" cy="640080"/>
          </a:xfrm>
          <a:prstGeom prst="ellipse">
            <a:avLst/>
          </a:prstGeom>
          <a:solidFill>
            <a:srgbClr val="8B5CF6">
              <a:alpha val="8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59552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59552" y="31546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df.corr()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heatmaps, scatter plots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1874520"/>
            <a:ext cx="1600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23760" y="1874520"/>
            <a:ext cx="1600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0" y="2011680"/>
            <a:ext cx="640080" cy="64008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80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96912" y="27432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96912" y="31546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df.groupby('col')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.agg({'val': 'mean'})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 Practice — Code Walkthrough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EDA &amp; Visualization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480560" cy="4023360"/>
          </a:xfrm>
          <a:prstGeom prst="roundRect">
            <a:avLst>
              <a:gd name="adj" fmla="val 2273"/>
            </a:avLst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5156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05156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05156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Load data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pd.read_csv('sales_data.csv')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Shape &amp; types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          # (1000, 8)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print(df.dtypes)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Missing values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print(df.isnull().sum())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df['price'].fillna(df['price'].median(), inplace=True)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Summary stats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Group analysis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by_region = df.groupby('region')['revenue'].agg(['mean','sum','count'])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print(by_region)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983480" y="960120"/>
            <a:ext cx="3977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83480" y="960120"/>
            <a:ext cx="3977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0515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Insights to Look For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1463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37960" y="14630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key columns incomplete? How much?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1828800"/>
            <a:ext cx="3703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938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37960" y="1938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stored as numbers? Fix early.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2304288"/>
            <a:ext cx="3703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414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37960" y="24140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3σ from mean can distort models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2779776"/>
            <a:ext cx="3703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2889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Skewed 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28895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log-transform for skewed 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3255264"/>
            <a:ext cx="3703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33649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33649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target classes need special handling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20640" y="3730752"/>
            <a:ext cx="3703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8404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37960" y="3840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correlation = possible redundancy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— Matplotlib &amp; Seaborn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EDA &amp; Visualization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98755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87552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109728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097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1078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1426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shape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" y="1737360"/>
            <a:ext cx="2542032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76479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plt.hist(df['age'], bins=20)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154680" y="98755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987552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09728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1097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64408" y="1078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4408" y="1426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&amp; spread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1737360"/>
            <a:ext cx="2542032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76479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sns.boxplot(x='cat', y='val', data=df)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80760" y="98755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0" y="987552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109728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1097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90488" y="10789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1426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0488" y="1737360"/>
            <a:ext cx="2542032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176479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plt.scatter(df['x'], df['y'])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290779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2907792"/>
            <a:ext cx="2743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31720" y="30175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3017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8328" y="2999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8328" y="3346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38328" y="3657600"/>
            <a:ext cx="2542032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68503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sns.heatmap(df.corr(), annot=True)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154680" y="290779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154680" y="2907792"/>
            <a:ext cx="27432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57800" y="30175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57800" y="3017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64408" y="2999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264408" y="3346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groups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64408" y="3657600"/>
            <a:ext cx="2542032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0128" y="368503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plt.bar(categories, values)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080760" y="2907792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80760" y="2907792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183880" y="3017520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83880" y="3017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190488" y="29992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90488" y="33467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90488" y="3657600"/>
            <a:ext cx="2542032" cy="7772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36208" y="3685032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plt.plot(time, values)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Starter Code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EDA &amp; Visualization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5156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05156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05156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style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sns.set_theme(style="whitegrid")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Histogram — see distribution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plt.figure(figsize=(8, 4))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plt.hist(df['salary'], bins=30, color='teal', edgecolor='white')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plt.title('Salary Distribution')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plt.xlabel('Salary'); plt.ylabel('Count')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Correlation heatmap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plt.figure(figsize=(8, 6))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sns.heatmap(df.corr(), annot=True, cmap="coolwarm", fmt=".2f")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plt.title('Feature Correlations')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80" dirty="0"/>
          </a:p>
          <a:p>
            <a:pPr marL="0" indent="0">
              <a:buNone/>
            </a:pP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Scatter with trend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sns.lmplot(x='experience', y='salary', data=df, hue='department')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669280" y="987552"/>
            <a:ext cx="32461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0" y="987552"/>
            <a:ext cx="64008" cy="886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1024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label your axes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33872" y="1335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plt.xlabel(), plt.ylabel(), plt.title() — every chart needs these.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2011680"/>
            <a:ext cx="32461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2011680"/>
            <a:ext cx="64008" cy="886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33872" y="20482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color purposefully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33872" y="2359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key groups. Don't use color just for decoration.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0" y="3035808"/>
            <a:ext cx="32461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3035808"/>
            <a:ext cx="64008" cy="886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30723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for statistics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33872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wraps matplotlib and adds statistical context automatically.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0" y="4059936"/>
            <a:ext cx="324612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4059936"/>
            <a:ext cx="64008" cy="8869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33872" y="40965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plt.tight_layout()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33872" y="4407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labels from being cut off — always call before plt.show().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B4D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learning, key algorithms, and scikit-learn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4592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Machine Learning?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Machine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"Machine Learning gives computers the ability to learn from data without being explicitly programmed."  — Arthur Samuel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7889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2788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25880" y="1993392"/>
            <a:ext cx="685800" cy="685800"/>
          </a:xfrm>
          <a:prstGeom prst="ellipse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9933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3246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labelled data (input → output pairs). The model learns the mapping.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4114800"/>
            <a:ext cx="2606040" cy="6858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1605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Spam detection, house price prediction, image classification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1828800"/>
            <a:ext cx="27889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828800"/>
            <a:ext cx="27889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993392"/>
            <a:ext cx="685800" cy="685800"/>
          </a:xfrm>
          <a:prstGeom prst="ellipse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19933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3756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337560" y="3246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hidden patterns in unlabelled data. No predefined answers.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37560" y="4114800"/>
            <a:ext cx="2606040" cy="6858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41605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Customer segmentation, anomaly detection, topic modelling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1828800"/>
            <a:ext cx="27889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828800"/>
            <a:ext cx="27889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9480" y="1993392"/>
            <a:ext cx="685800" cy="685800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19933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309360" y="27889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09360" y="32461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learns by interacting with an environment, getting rewards or penalties.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4114800"/>
            <a:ext cx="2606040" cy="68580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4160520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Game playing (AlphaGo), robotics, recommendation systems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Workflow — Step by Step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Machine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6400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69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51560" y="1143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" y="1920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APIs, databases, web scraping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1783080"/>
            <a:ext cx="1828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9601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60120"/>
            <a:ext cx="64008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0712" y="1069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023360" y="1143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Explore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10712" y="1920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data, EDA, visualise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783080"/>
            <a:ext cx="18288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96012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960120"/>
            <a:ext cx="64008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069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95160" y="114300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82512" y="19202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Transform, encode, scale features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34640"/>
            <a:ext cx="64008" cy="1645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5156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 on training data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63240" y="3657600"/>
            <a:ext cx="18288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46120" y="28346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6120" y="2834640"/>
            <a:ext cx="64008" cy="1645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02336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10712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RMSE on test set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3657600"/>
            <a:ext cx="1828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283464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2834640"/>
            <a:ext cx="64008" cy="1645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2944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995160" y="30175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Monitor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82512" y="3794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pipeline, retrain loop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First ML Model — scikit-learn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Machine 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5120640" cy="4041648"/>
          </a:xfrm>
          <a:prstGeom prst="roundRect">
            <a:avLst>
              <a:gd name="adj" fmla="val 2262"/>
            </a:avLst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51560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051560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051560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34440"/>
            <a:ext cx="4846320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LogisticRegression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accuracy_score, classification_report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Prepare data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pd.read_csv('data.csv')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df.drop('target', axis=1)   # Features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df['target']                 # Labels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Train / test split (80/20)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Scale features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= scaler.fit_transform(X_train)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  = scaler.transform(X_test)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Train model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LogisticRegression()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Evaluate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preds = model.predict(X_test)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print(f'Accuracy: {accuracy_score(y_test, preds):.2%}')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preds))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577840" y="960120"/>
            <a:ext cx="333756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960120"/>
            <a:ext cx="33375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0515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Algorithms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14356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89520" y="1472184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4721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15000" y="1783080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1500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1865376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8653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715000" y="2176272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22219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89520" y="2258568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2585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15000" y="2569464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6151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89520" y="2651760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9520" y="2651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15000" y="2962656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300837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3044952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3044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715000" y="3355848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3401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89520" y="3438144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34381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15000" y="3749040"/>
            <a:ext cx="3063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589520" y="3831336"/>
            <a:ext cx="1188720" cy="256032"/>
          </a:xfrm>
          <a:prstGeom prst="roundRect">
            <a:avLst>
              <a:gd name="adj" fmla="val 1785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89520" y="38313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Generative AI Fits 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field of intelligent machines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2011680"/>
            <a:ext cx="6858000" cy="868680"/>
          </a:xfrm>
          <a:prstGeom prst="rect">
            <a:avLst/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0574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468880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from 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2971800"/>
            <a:ext cx="5029200" cy="868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30175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34290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with many layers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3931920"/>
            <a:ext cx="3200400" cy="868680"/>
          </a:xfrm>
          <a:prstGeom prst="rect">
            <a:avLst/>
          </a:prstGeom>
          <a:solidFill>
            <a:srgbClr val="FAF5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9776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43891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that CREATE: text, images, code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3840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• Claude • Gemini • Stable Diffusion • DALL·E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6400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30-day Python → AI Learning Path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27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17465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basics, data types, loops &amp; functions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12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185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14400" y="2404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NumPy, Pandas &amp; your first EDA on a real dataset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71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843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— Matplotlib &amp; Seaborn projects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529584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529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502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14400" y="3721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train 3 different ML models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187952"/>
            <a:ext cx="411480" cy="411480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" y="4379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Claude or OpenAI API from Python!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0" y="4572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Resources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89120" y="10515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13624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Kaggle.com — free datasets &amp; notebooks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80560" y="16367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LeetCode Python challenges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0" y="2971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328269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docs.python.org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80560" y="35570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scikit-learn.org/stable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89120" y="3931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80560" y="42428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console.anthropic.com (Claude)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45171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platform.openai.com (GPT)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89120" y="4709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Coding! 🐍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1964</Words>
  <Application>Microsoft Office PowerPoint</Application>
  <PresentationFormat>On-screen Show (16:9)</PresentationFormat>
  <Paragraphs>392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Generative AI — A Beginner's Guide</dc:title>
  <dc:subject>PptxGenJS Presentation</dc:subject>
  <dc:creator>PptxGenJS</dc:creator>
  <cp:lastModifiedBy>Desmond Onam</cp:lastModifiedBy>
  <cp:revision>3</cp:revision>
  <dcterms:created xsi:type="dcterms:W3CDTF">2026-05-03T22:56:28Z</dcterms:created>
  <dcterms:modified xsi:type="dcterms:W3CDTF">2026-05-03T23:22:30Z</dcterms:modified>
</cp:coreProperties>
</file>